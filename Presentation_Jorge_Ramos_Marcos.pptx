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1A6662E-FAF4-44BC-88B5-85A7CBFB6D30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4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2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1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9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41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0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6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0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6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794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025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4753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3444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676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5931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C559632-1575-4E14-B53B-3DC3D5ED3947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99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C4A6868-2568-4CC9-B302-F37117B01A6E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4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2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34E66B39-1AA7-BD06-5814-CD430CBA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61" r="24811" b="1"/>
          <a:stretch/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73D163E-6510-BCF4-E75F-E7E671F30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6097" y="4691611"/>
            <a:ext cx="5428551" cy="769479"/>
          </a:xfrm>
        </p:spPr>
        <p:txBody>
          <a:bodyPr>
            <a:normAutofit/>
          </a:bodyPr>
          <a:lstStyle/>
          <a:p>
            <a:r>
              <a:rPr lang="es-ES" dirty="0"/>
              <a:t>Recomendador de videojuegos</a:t>
            </a:r>
            <a:endParaRPr lang="en-US" dirty="0"/>
          </a:p>
        </p:txBody>
      </p:sp>
      <p:pic>
        <p:nvPicPr>
          <p:cNvPr id="6" name="Picture 5" descr="A purple and white rectangle with white text&#10;&#10;Description automatically generated">
            <a:extLst>
              <a:ext uri="{FF2B5EF4-FFF2-40B4-BE49-F238E27FC236}">
                <a16:creationId xmlns:a16="http://schemas.microsoft.com/office/drawing/2014/main" id="{EDF717E6-9DE9-5022-26F4-12D59D10D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63" y="2971800"/>
            <a:ext cx="5426299" cy="171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4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1AC1B4-B6CD-F3A6-B852-A806A73E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154" y="746413"/>
            <a:ext cx="8825658" cy="88715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s-ES" sz="5400" b="1" dirty="0">
                <a:solidFill>
                  <a:schemeClr val="tx1"/>
                </a:solidFill>
              </a:rPr>
              <a:t>INTRODUCCIÓN</a:t>
            </a:r>
            <a:endParaRPr lang="en-US" sz="5400" b="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the market&#10;&#10;Description automatically generated with medium confidence">
            <a:extLst>
              <a:ext uri="{FF2B5EF4-FFF2-40B4-BE49-F238E27FC236}">
                <a16:creationId xmlns:a16="http://schemas.microsoft.com/office/drawing/2014/main" id="{7833FEFE-5EC5-96B4-405A-224F7E447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50" y="2142029"/>
            <a:ext cx="5168601" cy="3060231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3D78E98-E405-6CFC-8CFD-7B01C3C24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51" y="1143000"/>
            <a:ext cx="2580237" cy="71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bisoft Logo - símbolo, significado logotipo, historia, PNG">
            <a:extLst>
              <a:ext uri="{FF2B5EF4-FFF2-40B4-BE49-F238E27FC236}">
                <a16:creationId xmlns:a16="http://schemas.microsoft.com/office/drawing/2014/main" id="{38BF6F97-BBB7-8CC6-681E-D458D7409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18" y="2328955"/>
            <a:ext cx="2205297" cy="160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lectronic Arts | Half-Life &amp; Portal Wiki | Fandom">
            <a:extLst>
              <a:ext uri="{FF2B5EF4-FFF2-40B4-BE49-F238E27FC236}">
                <a16:creationId xmlns:a16="http://schemas.microsoft.com/office/drawing/2014/main" id="{DB88E4CA-752D-C685-90C4-C06417E93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34" y="4399929"/>
            <a:ext cx="1604663" cy="160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D69737A-DA47-5BA1-EA2D-A7024DEBD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26368">
            <a:off x="8559759" y="1149859"/>
            <a:ext cx="3133724" cy="27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yu Ga Gotoku Studio - Wikipedia">
            <a:extLst>
              <a:ext uri="{FF2B5EF4-FFF2-40B4-BE49-F238E27FC236}">
                <a16:creationId xmlns:a16="http://schemas.microsoft.com/office/drawing/2014/main" id="{B17ABE2B-670A-29EB-B3D7-D6E8455F1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204" y="2265362"/>
            <a:ext cx="1724025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6C1DE9A4-CAD1-7784-F7F2-062FE8322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775" y="5329370"/>
            <a:ext cx="2580237" cy="64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588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6DCE-5059-1B26-A767-161C6A82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028" y="878084"/>
            <a:ext cx="8761413" cy="706964"/>
          </a:xfrm>
        </p:spPr>
        <p:txBody>
          <a:bodyPr/>
          <a:lstStyle/>
          <a:p>
            <a:r>
              <a:rPr lang="es-ES" b="1" dirty="0"/>
              <a:t>¿SOLUCIÓN?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B6658-4C16-09CA-FA87-0B808DA4D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906" y="1585048"/>
            <a:ext cx="8825659" cy="3416300"/>
          </a:xfrm>
        </p:spPr>
        <p:txBody>
          <a:bodyPr/>
          <a:lstStyle/>
          <a:p>
            <a:r>
              <a:rPr lang="es-ES" dirty="0">
                <a:solidFill>
                  <a:schemeClr val="bg2"/>
                </a:solidFill>
              </a:rPr>
              <a:t>SISTEMA RECOMENDADOR DE VIDEOJUEGOS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6ADB-C94B-7F70-A9D1-6E1548891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24" y="2292012"/>
            <a:ext cx="8338830" cy="450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A0821-DFB1-C3BD-2FCF-DC9019B6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s-ES" sz="3200" b="1" dirty="0">
                <a:solidFill>
                  <a:srgbClr val="EBEBEB"/>
                </a:solidFill>
              </a:rPr>
              <a:t>HERRAMIENTAS UTILIZADAS</a:t>
            </a:r>
            <a:endParaRPr lang="en-US" sz="3200" b="1" dirty="0">
              <a:solidFill>
                <a:srgbClr val="EBEBEB"/>
              </a:solidFill>
            </a:endParaRPr>
          </a:p>
        </p:txBody>
      </p:sp>
      <p:pic>
        <p:nvPicPr>
          <p:cNvPr id="4" name="Picture 3" descr="Neo4j - Wikipedia, la enciclopedia libre">
            <a:extLst>
              <a:ext uri="{FF2B5EF4-FFF2-40B4-BE49-F238E27FC236}">
                <a16:creationId xmlns:a16="http://schemas.microsoft.com/office/drawing/2014/main" id="{9CB42A07-F2D1-976B-7085-0E603E1C22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715" y="619109"/>
            <a:ext cx="2725420" cy="1022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black and blue text&#10;&#10;Description automatically generated">
            <a:extLst>
              <a:ext uri="{FF2B5EF4-FFF2-40B4-BE49-F238E27FC236}">
                <a16:creationId xmlns:a16="http://schemas.microsoft.com/office/drawing/2014/main" id="{23382DEE-EF24-8475-704C-7DBEC8D62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310" y="469980"/>
            <a:ext cx="3107165" cy="1321245"/>
          </a:xfrm>
          <a:prstGeom prst="rect">
            <a:avLst/>
          </a:prstGeom>
        </p:spPr>
      </p:pic>
      <p:pic>
        <p:nvPicPr>
          <p:cNvPr id="6" name="Picture 5" descr="Python: Iniciación a la Programación - Escuela de Negocios Visión y Valor  Consulting">
            <a:extLst>
              <a:ext uri="{FF2B5EF4-FFF2-40B4-BE49-F238E27FC236}">
                <a16:creationId xmlns:a16="http://schemas.microsoft.com/office/drawing/2014/main" id="{CBF226C0-EDAA-1426-B691-E2A7CBB1D8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825" y="3170476"/>
            <a:ext cx="3124512" cy="175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Gemini (modelo de lenguaje) - Wikipedia, la enciclopedia libre">
            <a:extLst>
              <a:ext uri="{FF2B5EF4-FFF2-40B4-BE49-F238E27FC236}">
                <a16:creationId xmlns:a16="http://schemas.microsoft.com/office/drawing/2014/main" id="{F2AA6D60-AE8A-36B7-4D30-169B1D758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838" y="4915421"/>
            <a:ext cx="3384054" cy="124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PySide6 — Create Python GUIs with Python &amp; Qt6 (1)">
            <a:extLst>
              <a:ext uri="{FF2B5EF4-FFF2-40B4-BE49-F238E27FC236}">
                <a16:creationId xmlns:a16="http://schemas.microsoft.com/office/drawing/2014/main" id="{D03F5CBD-4047-69BD-D68F-2E466B3791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531" y="1781415"/>
            <a:ext cx="2875280" cy="134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The Qt Company restringe Qt 5.15 LTS a los usuarios comerciales - MuyLinux">
            <a:extLst>
              <a:ext uri="{FF2B5EF4-FFF2-40B4-BE49-F238E27FC236}">
                <a16:creationId xmlns:a16="http://schemas.microsoft.com/office/drawing/2014/main" id="{7851AACE-9D7B-61FA-BBD6-641D36C1C8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5462" y="1973137"/>
            <a:ext cx="2743200" cy="1645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820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3AC8-46BA-EA25-E82E-96DBBF3C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EJECUCIÓN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87D4C-B5B2-59D0-A0AD-4E76DF56C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129" y="2746375"/>
            <a:ext cx="10160746" cy="3416300"/>
          </a:xfrm>
        </p:spPr>
        <p:txBody>
          <a:bodyPr/>
          <a:lstStyle/>
          <a:p>
            <a:r>
              <a:rPr lang="es-ES" dirty="0"/>
              <a:t>SITUARSE EN EL DIRECTORIO DE TRABAJO (comando “cd“ en línea de comandos) </a:t>
            </a:r>
          </a:p>
          <a:p>
            <a:r>
              <a:rPr lang="es-ES" dirty="0"/>
              <a:t>Ejecutar </a:t>
            </a:r>
            <a:r>
              <a:rPr lang="es-ES" dirty="0" err="1"/>
              <a:t>python</a:t>
            </a:r>
            <a:r>
              <a:rPr lang="es-ES" dirty="0"/>
              <a:t> main.py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03E68-5111-B9ED-D572-CBC81C31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9" y="3925887"/>
            <a:ext cx="8476077" cy="66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1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3EF4D6-026A-4D52-B916-967329EE3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DB4846F-6AA5-4DB3-9581-D95F22BD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90951" y="1797517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4EC22E-2292-4292-A80B-E81DF64BF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80041"/>
            <a:ext cx="12192000" cy="5077959"/>
          </a:xfrm>
          <a:custGeom>
            <a:avLst/>
            <a:gdLst>
              <a:gd name="connsiteX0" fmla="*/ 12192000 w 12192000"/>
              <a:gd name="connsiteY0" fmla="*/ 0 h 5077959"/>
              <a:gd name="connsiteX1" fmla="*/ 12192000 w 12192000"/>
              <a:gd name="connsiteY1" fmla="*/ 1972152 h 5077959"/>
              <a:gd name="connsiteX2" fmla="*/ 12192000 w 12192000"/>
              <a:gd name="connsiteY2" fmla="*/ 2361342 h 5077959"/>
              <a:gd name="connsiteX3" fmla="*/ 12192000 w 12192000"/>
              <a:gd name="connsiteY3" fmla="*/ 5077959 h 5077959"/>
              <a:gd name="connsiteX4" fmla="*/ 0 w 12192000"/>
              <a:gd name="connsiteY4" fmla="*/ 5077959 h 5077959"/>
              <a:gd name="connsiteX5" fmla="*/ 0 w 12192000"/>
              <a:gd name="connsiteY5" fmla="*/ 2361342 h 5077959"/>
              <a:gd name="connsiteX6" fmla="*/ 0 w 12192000"/>
              <a:gd name="connsiteY6" fmla="*/ 1972152 h 5077959"/>
              <a:gd name="connsiteX7" fmla="*/ 0 w 12192000"/>
              <a:gd name="connsiteY7" fmla="*/ 12515 h 5077959"/>
              <a:gd name="connsiteX8" fmla="*/ 108623 w 12192000"/>
              <a:gd name="connsiteY8" fmla="*/ 29540 h 5077959"/>
              <a:gd name="connsiteX9" fmla="*/ 300195 w 12192000"/>
              <a:gd name="connsiteY9" fmla="*/ 56163 h 5077959"/>
              <a:gd name="connsiteX10" fmla="*/ 527528 w 12192000"/>
              <a:gd name="connsiteY10" fmla="*/ 88041 h 5077959"/>
              <a:gd name="connsiteX11" fmla="*/ 779127 w 12192000"/>
              <a:gd name="connsiteY11" fmla="*/ 121671 h 5077959"/>
              <a:gd name="connsiteX12" fmla="*/ 1062654 w 12192000"/>
              <a:gd name="connsiteY12" fmla="*/ 157052 h 5077959"/>
              <a:gd name="connsiteX13" fmla="*/ 1371726 w 12192000"/>
              <a:gd name="connsiteY13" fmla="*/ 194535 h 5077959"/>
              <a:gd name="connsiteX14" fmla="*/ 1707616 w 12192000"/>
              <a:gd name="connsiteY14" fmla="*/ 232018 h 5077959"/>
              <a:gd name="connsiteX15" fmla="*/ 2065219 w 12192000"/>
              <a:gd name="connsiteY15" fmla="*/ 270201 h 5077959"/>
              <a:gd name="connsiteX16" fmla="*/ 2450918 w 12192000"/>
              <a:gd name="connsiteY16" fmla="*/ 305583 h 5077959"/>
              <a:gd name="connsiteX17" fmla="*/ 2854496 w 12192000"/>
              <a:gd name="connsiteY17" fmla="*/ 339562 h 5077959"/>
              <a:gd name="connsiteX18" fmla="*/ 3281065 w 12192000"/>
              <a:gd name="connsiteY18" fmla="*/ 370390 h 5077959"/>
              <a:gd name="connsiteX19" fmla="*/ 3725514 w 12192000"/>
              <a:gd name="connsiteY19" fmla="*/ 399815 h 5077959"/>
              <a:gd name="connsiteX20" fmla="*/ 4189119 w 12192000"/>
              <a:gd name="connsiteY20" fmla="*/ 427490 h 5077959"/>
              <a:gd name="connsiteX21" fmla="*/ 4426671 w 12192000"/>
              <a:gd name="connsiteY21" fmla="*/ 437298 h 5077959"/>
              <a:gd name="connsiteX22" fmla="*/ 4669330 w 12192000"/>
              <a:gd name="connsiteY22" fmla="*/ 448158 h 5077959"/>
              <a:gd name="connsiteX23" fmla="*/ 4915819 w 12192000"/>
              <a:gd name="connsiteY23" fmla="*/ 458317 h 5077959"/>
              <a:gd name="connsiteX24" fmla="*/ 5163586 w 12192000"/>
              <a:gd name="connsiteY24" fmla="*/ 464973 h 5077959"/>
              <a:gd name="connsiteX25" fmla="*/ 5416461 w 12192000"/>
              <a:gd name="connsiteY25" fmla="*/ 470928 h 5077959"/>
              <a:gd name="connsiteX26" fmla="*/ 5671892 w 12192000"/>
              <a:gd name="connsiteY26" fmla="*/ 477234 h 5077959"/>
              <a:gd name="connsiteX27" fmla="*/ 5932430 w 12192000"/>
              <a:gd name="connsiteY27" fmla="*/ 481437 h 5077959"/>
              <a:gd name="connsiteX28" fmla="*/ 6195523 w 12192000"/>
              <a:gd name="connsiteY28" fmla="*/ 481437 h 5077959"/>
              <a:gd name="connsiteX29" fmla="*/ 6461170 w 12192000"/>
              <a:gd name="connsiteY29" fmla="*/ 483539 h 5077959"/>
              <a:gd name="connsiteX30" fmla="*/ 6729372 w 12192000"/>
              <a:gd name="connsiteY30" fmla="*/ 481437 h 5077959"/>
              <a:gd name="connsiteX31" fmla="*/ 7001406 w 12192000"/>
              <a:gd name="connsiteY31" fmla="*/ 477234 h 5077959"/>
              <a:gd name="connsiteX32" fmla="*/ 7273439 w 12192000"/>
              <a:gd name="connsiteY32" fmla="*/ 473380 h 5077959"/>
              <a:gd name="connsiteX33" fmla="*/ 7549303 w 12192000"/>
              <a:gd name="connsiteY33" fmla="*/ 464973 h 5077959"/>
              <a:gd name="connsiteX34" fmla="*/ 7827722 w 12192000"/>
              <a:gd name="connsiteY34" fmla="*/ 456215 h 5077959"/>
              <a:gd name="connsiteX35" fmla="*/ 8106140 w 12192000"/>
              <a:gd name="connsiteY35" fmla="*/ 446056 h 5077959"/>
              <a:gd name="connsiteX36" fmla="*/ 8387114 w 12192000"/>
              <a:gd name="connsiteY36" fmla="*/ 431694 h 5077959"/>
              <a:gd name="connsiteX37" fmla="*/ 8670640 w 12192000"/>
              <a:gd name="connsiteY37" fmla="*/ 414528 h 5077959"/>
              <a:gd name="connsiteX38" fmla="*/ 8955446 w 12192000"/>
              <a:gd name="connsiteY38" fmla="*/ 398064 h 5077959"/>
              <a:gd name="connsiteX39" fmla="*/ 9240250 w 12192000"/>
              <a:gd name="connsiteY39" fmla="*/ 377045 h 5077959"/>
              <a:gd name="connsiteX40" fmla="*/ 9528886 w 12192000"/>
              <a:gd name="connsiteY40" fmla="*/ 351823 h 5077959"/>
              <a:gd name="connsiteX41" fmla="*/ 9813691 w 12192000"/>
              <a:gd name="connsiteY41" fmla="*/ 326601 h 5077959"/>
              <a:gd name="connsiteX42" fmla="*/ 10103603 w 12192000"/>
              <a:gd name="connsiteY42" fmla="*/ 297525 h 5077959"/>
              <a:gd name="connsiteX43" fmla="*/ 10394794 w 12192000"/>
              <a:gd name="connsiteY43" fmla="*/ 265647 h 5077959"/>
              <a:gd name="connsiteX44" fmla="*/ 10682153 w 12192000"/>
              <a:gd name="connsiteY44" fmla="*/ 232018 h 5077959"/>
              <a:gd name="connsiteX45" fmla="*/ 10973344 w 12192000"/>
              <a:gd name="connsiteY45" fmla="*/ 192783 h 5077959"/>
              <a:gd name="connsiteX46" fmla="*/ 11263257 w 12192000"/>
              <a:gd name="connsiteY46" fmla="*/ 150746 h 5077959"/>
              <a:gd name="connsiteX47" fmla="*/ 11554448 w 12192000"/>
              <a:gd name="connsiteY47" fmla="*/ 109060 h 5077959"/>
              <a:gd name="connsiteX48" fmla="*/ 11844360 w 12192000"/>
              <a:gd name="connsiteY48" fmla="*/ 60367 h 5077959"/>
              <a:gd name="connsiteX49" fmla="*/ 12132996 w 12192000"/>
              <a:gd name="connsiteY49" fmla="*/ 10623 h 507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192000" h="5077959">
                <a:moveTo>
                  <a:pt x="12192000" y="0"/>
                </a:moveTo>
                <a:lnTo>
                  <a:pt x="12192000" y="1972152"/>
                </a:lnTo>
                <a:lnTo>
                  <a:pt x="12192000" y="2361342"/>
                </a:lnTo>
                <a:lnTo>
                  <a:pt x="12192000" y="5077959"/>
                </a:lnTo>
                <a:lnTo>
                  <a:pt x="0" y="5077959"/>
                </a:lnTo>
                <a:lnTo>
                  <a:pt x="0" y="2361342"/>
                </a:lnTo>
                <a:lnTo>
                  <a:pt x="0" y="1972152"/>
                </a:lnTo>
                <a:lnTo>
                  <a:pt x="0" y="12515"/>
                </a:lnTo>
                <a:lnTo>
                  <a:pt x="108623" y="29540"/>
                </a:lnTo>
                <a:lnTo>
                  <a:pt x="300195" y="56163"/>
                </a:lnTo>
                <a:lnTo>
                  <a:pt x="527528" y="88041"/>
                </a:lnTo>
                <a:lnTo>
                  <a:pt x="779127" y="121671"/>
                </a:lnTo>
                <a:lnTo>
                  <a:pt x="1062654" y="157052"/>
                </a:lnTo>
                <a:lnTo>
                  <a:pt x="1371726" y="194535"/>
                </a:lnTo>
                <a:lnTo>
                  <a:pt x="1707616" y="232018"/>
                </a:lnTo>
                <a:lnTo>
                  <a:pt x="2065219" y="270201"/>
                </a:lnTo>
                <a:lnTo>
                  <a:pt x="2450918" y="305583"/>
                </a:lnTo>
                <a:lnTo>
                  <a:pt x="2854496" y="339562"/>
                </a:lnTo>
                <a:lnTo>
                  <a:pt x="3281065" y="370390"/>
                </a:lnTo>
                <a:lnTo>
                  <a:pt x="3725514" y="399815"/>
                </a:lnTo>
                <a:lnTo>
                  <a:pt x="4189119" y="427490"/>
                </a:lnTo>
                <a:lnTo>
                  <a:pt x="4426671" y="437298"/>
                </a:lnTo>
                <a:lnTo>
                  <a:pt x="4669330" y="448158"/>
                </a:lnTo>
                <a:lnTo>
                  <a:pt x="4915819" y="458317"/>
                </a:lnTo>
                <a:lnTo>
                  <a:pt x="5163586" y="464973"/>
                </a:lnTo>
                <a:lnTo>
                  <a:pt x="5416461" y="470928"/>
                </a:lnTo>
                <a:lnTo>
                  <a:pt x="5671892" y="477234"/>
                </a:lnTo>
                <a:lnTo>
                  <a:pt x="5932430" y="481437"/>
                </a:lnTo>
                <a:lnTo>
                  <a:pt x="6195523" y="481437"/>
                </a:lnTo>
                <a:lnTo>
                  <a:pt x="6461170" y="483539"/>
                </a:lnTo>
                <a:lnTo>
                  <a:pt x="6729372" y="481437"/>
                </a:lnTo>
                <a:lnTo>
                  <a:pt x="7001406" y="477234"/>
                </a:lnTo>
                <a:lnTo>
                  <a:pt x="7273439" y="473380"/>
                </a:lnTo>
                <a:lnTo>
                  <a:pt x="7549303" y="464973"/>
                </a:lnTo>
                <a:lnTo>
                  <a:pt x="7827722" y="456215"/>
                </a:lnTo>
                <a:lnTo>
                  <a:pt x="8106140" y="446056"/>
                </a:lnTo>
                <a:lnTo>
                  <a:pt x="8387114" y="431694"/>
                </a:lnTo>
                <a:lnTo>
                  <a:pt x="8670640" y="414528"/>
                </a:lnTo>
                <a:lnTo>
                  <a:pt x="8955446" y="398064"/>
                </a:lnTo>
                <a:lnTo>
                  <a:pt x="9240250" y="377045"/>
                </a:lnTo>
                <a:lnTo>
                  <a:pt x="9528886" y="351823"/>
                </a:lnTo>
                <a:lnTo>
                  <a:pt x="9813691" y="326601"/>
                </a:lnTo>
                <a:lnTo>
                  <a:pt x="10103603" y="297525"/>
                </a:lnTo>
                <a:lnTo>
                  <a:pt x="10394794" y="265647"/>
                </a:lnTo>
                <a:lnTo>
                  <a:pt x="10682153" y="232018"/>
                </a:lnTo>
                <a:lnTo>
                  <a:pt x="10973344" y="192783"/>
                </a:lnTo>
                <a:lnTo>
                  <a:pt x="11263257" y="150746"/>
                </a:lnTo>
                <a:lnTo>
                  <a:pt x="11554448" y="109060"/>
                </a:lnTo>
                <a:lnTo>
                  <a:pt x="11844360" y="60367"/>
                </a:lnTo>
                <a:lnTo>
                  <a:pt x="12132996" y="106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1C7165-8A3A-44EB-88D0-4EFA36A00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1081473-BB93-49A4-B605-4E2053739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3E750-6CCF-B33C-2AD9-C3873809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1" y="838200"/>
            <a:ext cx="8825659" cy="977902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EBEBEB"/>
                </a:solidFill>
              </a:rPr>
              <a:t>TIPOS DE ORDENACIÓN</a:t>
            </a:r>
            <a:endParaRPr lang="en-US" dirty="0">
              <a:solidFill>
                <a:srgbClr val="EBEBE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02E8E-CDC9-C01E-7D7A-E950A3E0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516749"/>
            <a:ext cx="5082418" cy="1350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14492A-CF9B-24C6-61C0-A7AB78399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986" y="2496947"/>
            <a:ext cx="4755817" cy="13702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321B4A-DB79-7677-D106-0EBE1CB3B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405" y="4441146"/>
            <a:ext cx="5578288" cy="13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4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BC040-D70E-D4B6-6F0E-CFEEB34D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731" y="846746"/>
            <a:ext cx="453592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DAFO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2D86BB-893F-471B-AD66-50E01777C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3" y="396837"/>
            <a:ext cx="6451503" cy="6058999"/>
            <a:chOff x="423333" y="396837"/>
            <a:chExt cx="6451503" cy="605899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1E3F80D-79C6-468A-83E4-3FEA58556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3" y="402165"/>
              <a:ext cx="522933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009504C1-96CE-44B4-8DF0-613CF9D1D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3161515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1F299836-4C10-4395-B386-C0FA537C4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5004670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image16.png" descr="Herramienta DAFO">
            <a:extLst>
              <a:ext uri="{FF2B5EF4-FFF2-40B4-BE49-F238E27FC236}">
                <a16:creationId xmlns:a16="http://schemas.microsoft.com/office/drawing/2014/main" id="{66331F2A-5EBF-FCCE-0875-46018576977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09763" y="1528422"/>
            <a:ext cx="4983737" cy="380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24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431EE-1DDD-D181-13B8-130ADCA5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4044638" cy="4596794"/>
          </a:xfrm>
        </p:spPr>
        <p:txBody>
          <a:bodyPr anchor="ctr">
            <a:normAutofit/>
          </a:bodyPr>
          <a:lstStyle/>
          <a:p>
            <a:r>
              <a:rPr lang="es-ES" sz="3200" b="1" dirty="0">
                <a:solidFill>
                  <a:srgbClr val="EBEBEB"/>
                </a:solidFill>
              </a:rPr>
              <a:t>LÍNEAS DE FUTURO</a:t>
            </a:r>
            <a:endParaRPr lang="en-US" sz="3200" b="1" dirty="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FAA8B-D6ED-0F5C-79AF-221A9E82C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589" y="1977320"/>
            <a:ext cx="7066534" cy="3462657"/>
          </a:xfrm>
        </p:spPr>
        <p:txBody>
          <a:bodyPr anchor="ctr">
            <a:normAutofit/>
          </a:bodyPr>
          <a:lstStyle/>
          <a:p>
            <a:r>
              <a:rPr lang="es-ES" sz="3200" dirty="0"/>
              <a:t>Soporte y despliegue (web)</a:t>
            </a:r>
          </a:p>
          <a:p>
            <a:r>
              <a:rPr lang="es-ES" sz="3200" dirty="0"/>
              <a:t>Mejor búsqueda IA (internet)</a:t>
            </a:r>
          </a:p>
          <a:p>
            <a:r>
              <a:rPr lang="es-ES" sz="3200" dirty="0"/>
              <a:t>Solventar errores y debilidades</a:t>
            </a:r>
          </a:p>
          <a:p>
            <a:r>
              <a:rPr lang="es-ES" sz="3200" dirty="0"/>
              <a:t>Usuarios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3637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3EF4D6-026A-4D52-B916-967329EE3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DB4846F-6AA5-4DB3-9581-D95F22BD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90951" y="1797517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4EC22E-2292-4292-A80B-E81DF64BF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80041"/>
            <a:ext cx="12192000" cy="5077959"/>
          </a:xfrm>
          <a:custGeom>
            <a:avLst/>
            <a:gdLst>
              <a:gd name="connsiteX0" fmla="*/ 12192000 w 12192000"/>
              <a:gd name="connsiteY0" fmla="*/ 0 h 5077959"/>
              <a:gd name="connsiteX1" fmla="*/ 12192000 w 12192000"/>
              <a:gd name="connsiteY1" fmla="*/ 1972152 h 5077959"/>
              <a:gd name="connsiteX2" fmla="*/ 12192000 w 12192000"/>
              <a:gd name="connsiteY2" fmla="*/ 2361342 h 5077959"/>
              <a:gd name="connsiteX3" fmla="*/ 12192000 w 12192000"/>
              <a:gd name="connsiteY3" fmla="*/ 5077959 h 5077959"/>
              <a:gd name="connsiteX4" fmla="*/ 0 w 12192000"/>
              <a:gd name="connsiteY4" fmla="*/ 5077959 h 5077959"/>
              <a:gd name="connsiteX5" fmla="*/ 0 w 12192000"/>
              <a:gd name="connsiteY5" fmla="*/ 2361342 h 5077959"/>
              <a:gd name="connsiteX6" fmla="*/ 0 w 12192000"/>
              <a:gd name="connsiteY6" fmla="*/ 1972152 h 5077959"/>
              <a:gd name="connsiteX7" fmla="*/ 0 w 12192000"/>
              <a:gd name="connsiteY7" fmla="*/ 12515 h 5077959"/>
              <a:gd name="connsiteX8" fmla="*/ 108623 w 12192000"/>
              <a:gd name="connsiteY8" fmla="*/ 29540 h 5077959"/>
              <a:gd name="connsiteX9" fmla="*/ 300195 w 12192000"/>
              <a:gd name="connsiteY9" fmla="*/ 56163 h 5077959"/>
              <a:gd name="connsiteX10" fmla="*/ 527528 w 12192000"/>
              <a:gd name="connsiteY10" fmla="*/ 88041 h 5077959"/>
              <a:gd name="connsiteX11" fmla="*/ 779127 w 12192000"/>
              <a:gd name="connsiteY11" fmla="*/ 121671 h 5077959"/>
              <a:gd name="connsiteX12" fmla="*/ 1062654 w 12192000"/>
              <a:gd name="connsiteY12" fmla="*/ 157052 h 5077959"/>
              <a:gd name="connsiteX13" fmla="*/ 1371726 w 12192000"/>
              <a:gd name="connsiteY13" fmla="*/ 194535 h 5077959"/>
              <a:gd name="connsiteX14" fmla="*/ 1707616 w 12192000"/>
              <a:gd name="connsiteY14" fmla="*/ 232018 h 5077959"/>
              <a:gd name="connsiteX15" fmla="*/ 2065219 w 12192000"/>
              <a:gd name="connsiteY15" fmla="*/ 270201 h 5077959"/>
              <a:gd name="connsiteX16" fmla="*/ 2450918 w 12192000"/>
              <a:gd name="connsiteY16" fmla="*/ 305583 h 5077959"/>
              <a:gd name="connsiteX17" fmla="*/ 2854496 w 12192000"/>
              <a:gd name="connsiteY17" fmla="*/ 339562 h 5077959"/>
              <a:gd name="connsiteX18" fmla="*/ 3281065 w 12192000"/>
              <a:gd name="connsiteY18" fmla="*/ 370390 h 5077959"/>
              <a:gd name="connsiteX19" fmla="*/ 3725514 w 12192000"/>
              <a:gd name="connsiteY19" fmla="*/ 399815 h 5077959"/>
              <a:gd name="connsiteX20" fmla="*/ 4189119 w 12192000"/>
              <a:gd name="connsiteY20" fmla="*/ 427490 h 5077959"/>
              <a:gd name="connsiteX21" fmla="*/ 4426671 w 12192000"/>
              <a:gd name="connsiteY21" fmla="*/ 437298 h 5077959"/>
              <a:gd name="connsiteX22" fmla="*/ 4669330 w 12192000"/>
              <a:gd name="connsiteY22" fmla="*/ 448158 h 5077959"/>
              <a:gd name="connsiteX23" fmla="*/ 4915819 w 12192000"/>
              <a:gd name="connsiteY23" fmla="*/ 458317 h 5077959"/>
              <a:gd name="connsiteX24" fmla="*/ 5163586 w 12192000"/>
              <a:gd name="connsiteY24" fmla="*/ 464973 h 5077959"/>
              <a:gd name="connsiteX25" fmla="*/ 5416461 w 12192000"/>
              <a:gd name="connsiteY25" fmla="*/ 470928 h 5077959"/>
              <a:gd name="connsiteX26" fmla="*/ 5671892 w 12192000"/>
              <a:gd name="connsiteY26" fmla="*/ 477234 h 5077959"/>
              <a:gd name="connsiteX27" fmla="*/ 5932430 w 12192000"/>
              <a:gd name="connsiteY27" fmla="*/ 481437 h 5077959"/>
              <a:gd name="connsiteX28" fmla="*/ 6195523 w 12192000"/>
              <a:gd name="connsiteY28" fmla="*/ 481437 h 5077959"/>
              <a:gd name="connsiteX29" fmla="*/ 6461170 w 12192000"/>
              <a:gd name="connsiteY29" fmla="*/ 483539 h 5077959"/>
              <a:gd name="connsiteX30" fmla="*/ 6729372 w 12192000"/>
              <a:gd name="connsiteY30" fmla="*/ 481437 h 5077959"/>
              <a:gd name="connsiteX31" fmla="*/ 7001406 w 12192000"/>
              <a:gd name="connsiteY31" fmla="*/ 477234 h 5077959"/>
              <a:gd name="connsiteX32" fmla="*/ 7273439 w 12192000"/>
              <a:gd name="connsiteY32" fmla="*/ 473380 h 5077959"/>
              <a:gd name="connsiteX33" fmla="*/ 7549303 w 12192000"/>
              <a:gd name="connsiteY33" fmla="*/ 464973 h 5077959"/>
              <a:gd name="connsiteX34" fmla="*/ 7827722 w 12192000"/>
              <a:gd name="connsiteY34" fmla="*/ 456215 h 5077959"/>
              <a:gd name="connsiteX35" fmla="*/ 8106140 w 12192000"/>
              <a:gd name="connsiteY35" fmla="*/ 446056 h 5077959"/>
              <a:gd name="connsiteX36" fmla="*/ 8387114 w 12192000"/>
              <a:gd name="connsiteY36" fmla="*/ 431694 h 5077959"/>
              <a:gd name="connsiteX37" fmla="*/ 8670640 w 12192000"/>
              <a:gd name="connsiteY37" fmla="*/ 414528 h 5077959"/>
              <a:gd name="connsiteX38" fmla="*/ 8955446 w 12192000"/>
              <a:gd name="connsiteY38" fmla="*/ 398064 h 5077959"/>
              <a:gd name="connsiteX39" fmla="*/ 9240250 w 12192000"/>
              <a:gd name="connsiteY39" fmla="*/ 377045 h 5077959"/>
              <a:gd name="connsiteX40" fmla="*/ 9528886 w 12192000"/>
              <a:gd name="connsiteY40" fmla="*/ 351823 h 5077959"/>
              <a:gd name="connsiteX41" fmla="*/ 9813691 w 12192000"/>
              <a:gd name="connsiteY41" fmla="*/ 326601 h 5077959"/>
              <a:gd name="connsiteX42" fmla="*/ 10103603 w 12192000"/>
              <a:gd name="connsiteY42" fmla="*/ 297525 h 5077959"/>
              <a:gd name="connsiteX43" fmla="*/ 10394794 w 12192000"/>
              <a:gd name="connsiteY43" fmla="*/ 265647 h 5077959"/>
              <a:gd name="connsiteX44" fmla="*/ 10682153 w 12192000"/>
              <a:gd name="connsiteY44" fmla="*/ 232018 h 5077959"/>
              <a:gd name="connsiteX45" fmla="*/ 10973344 w 12192000"/>
              <a:gd name="connsiteY45" fmla="*/ 192783 h 5077959"/>
              <a:gd name="connsiteX46" fmla="*/ 11263257 w 12192000"/>
              <a:gd name="connsiteY46" fmla="*/ 150746 h 5077959"/>
              <a:gd name="connsiteX47" fmla="*/ 11554448 w 12192000"/>
              <a:gd name="connsiteY47" fmla="*/ 109060 h 5077959"/>
              <a:gd name="connsiteX48" fmla="*/ 11844360 w 12192000"/>
              <a:gd name="connsiteY48" fmla="*/ 60367 h 5077959"/>
              <a:gd name="connsiteX49" fmla="*/ 12132996 w 12192000"/>
              <a:gd name="connsiteY49" fmla="*/ 10623 h 507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192000" h="5077959">
                <a:moveTo>
                  <a:pt x="12192000" y="0"/>
                </a:moveTo>
                <a:lnTo>
                  <a:pt x="12192000" y="1972152"/>
                </a:lnTo>
                <a:lnTo>
                  <a:pt x="12192000" y="2361342"/>
                </a:lnTo>
                <a:lnTo>
                  <a:pt x="12192000" y="5077959"/>
                </a:lnTo>
                <a:lnTo>
                  <a:pt x="0" y="5077959"/>
                </a:lnTo>
                <a:lnTo>
                  <a:pt x="0" y="2361342"/>
                </a:lnTo>
                <a:lnTo>
                  <a:pt x="0" y="1972152"/>
                </a:lnTo>
                <a:lnTo>
                  <a:pt x="0" y="12515"/>
                </a:lnTo>
                <a:lnTo>
                  <a:pt x="108623" y="29540"/>
                </a:lnTo>
                <a:lnTo>
                  <a:pt x="300195" y="56163"/>
                </a:lnTo>
                <a:lnTo>
                  <a:pt x="527528" y="88041"/>
                </a:lnTo>
                <a:lnTo>
                  <a:pt x="779127" y="121671"/>
                </a:lnTo>
                <a:lnTo>
                  <a:pt x="1062654" y="157052"/>
                </a:lnTo>
                <a:lnTo>
                  <a:pt x="1371726" y="194535"/>
                </a:lnTo>
                <a:lnTo>
                  <a:pt x="1707616" y="232018"/>
                </a:lnTo>
                <a:lnTo>
                  <a:pt x="2065219" y="270201"/>
                </a:lnTo>
                <a:lnTo>
                  <a:pt x="2450918" y="305583"/>
                </a:lnTo>
                <a:lnTo>
                  <a:pt x="2854496" y="339562"/>
                </a:lnTo>
                <a:lnTo>
                  <a:pt x="3281065" y="370390"/>
                </a:lnTo>
                <a:lnTo>
                  <a:pt x="3725514" y="399815"/>
                </a:lnTo>
                <a:lnTo>
                  <a:pt x="4189119" y="427490"/>
                </a:lnTo>
                <a:lnTo>
                  <a:pt x="4426671" y="437298"/>
                </a:lnTo>
                <a:lnTo>
                  <a:pt x="4669330" y="448158"/>
                </a:lnTo>
                <a:lnTo>
                  <a:pt x="4915819" y="458317"/>
                </a:lnTo>
                <a:lnTo>
                  <a:pt x="5163586" y="464973"/>
                </a:lnTo>
                <a:lnTo>
                  <a:pt x="5416461" y="470928"/>
                </a:lnTo>
                <a:lnTo>
                  <a:pt x="5671892" y="477234"/>
                </a:lnTo>
                <a:lnTo>
                  <a:pt x="5932430" y="481437"/>
                </a:lnTo>
                <a:lnTo>
                  <a:pt x="6195523" y="481437"/>
                </a:lnTo>
                <a:lnTo>
                  <a:pt x="6461170" y="483539"/>
                </a:lnTo>
                <a:lnTo>
                  <a:pt x="6729372" y="481437"/>
                </a:lnTo>
                <a:lnTo>
                  <a:pt x="7001406" y="477234"/>
                </a:lnTo>
                <a:lnTo>
                  <a:pt x="7273439" y="473380"/>
                </a:lnTo>
                <a:lnTo>
                  <a:pt x="7549303" y="464973"/>
                </a:lnTo>
                <a:lnTo>
                  <a:pt x="7827722" y="456215"/>
                </a:lnTo>
                <a:lnTo>
                  <a:pt x="8106140" y="446056"/>
                </a:lnTo>
                <a:lnTo>
                  <a:pt x="8387114" y="431694"/>
                </a:lnTo>
                <a:lnTo>
                  <a:pt x="8670640" y="414528"/>
                </a:lnTo>
                <a:lnTo>
                  <a:pt x="8955446" y="398064"/>
                </a:lnTo>
                <a:lnTo>
                  <a:pt x="9240250" y="377045"/>
                </a:lnTo>
                <a:lnTo>
                  <a:pt x="9528886" y="351823"/>
                </a:lnTo>
                <a:lnTo>
                  <a:pt x="9813691" y="326601"/>
                </a:lnTo>
                <a:lnTo>
                  <a:pt x="10103603" y="297525"/>
                </a:lnTo>
                <a:lnTo>
                  <a:pt x="10394794" y="265647"/>
                </a:lnTo>
                <a:lnTo>
                  <a:pt x="10682153" y="232018"/>
                </a:lnTo>
                <a:lnTo>
                  <a:pt x="10973344" y="192783"/>
                </a:lnTo>
                <a:lnTo>
                  <a:pt x="11263257" y="150746"/>
                </a:lnTo>
                <a:lnTo>
                  <a:pt x="11554448" y="109060"/>
                </a:lnTo>
                <a:lnTo>
                  <a:pt x="11844360" y="60367"/>
                </a:lnTo>
                <a:lnTo>
                  <a:pt x="12132996" y="106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2A2039-50D4-4D49-A79F-C82A1D913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1C7165-8A3A-44EB-88D0-4EFA36A00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6" name="Freeform 5">
              <a:extLst>
                <a:ext uri="{FF2B5EF4-FFF2-40B4-BE49-F238E27FC236}">
                  <a16:creationId xmlns:a16="http://schemas.microsoft.com/office/drawing/2014/main" id="{A1081473-BB93-49A4-B605-4E2053739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778F3F-9D3A-2FBC-A34E-F9F023F2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977900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LECCIONES APRENDIDAS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97713-87E1-A938-E82E-539DD211A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049" y="2757941"/>
            <a:ext cx="10018175" cy="3416300"/>
          </a:xfrm>
        </p:spPr>
        <p:txBody>
          <a:bodyPr>
            <a:normAutofit/>
          </a:bodyPr>
          <a:lstStyle/>
          <a:p>
            <a:r>
              <a:rPr lang="es-ES" sz="2800" dirty="0"/>
              <a:t>Herramientas, lenguajes y </a:t>
            </a:r>
            <a:r>
              <a:rPr lang="es-ES" sz="2800" dirty="0" err="1"/>
              <a:t>frameworks</a:t>
            </a:r>
            <a:endParaRPr lang="es-ES" sz="2800" dirty="0"/>
          </a:p>
          <a:p>
            <a:r>
              <a:rPr lang="es-ES" sz="2800" dirty="0"/>
              <a:t>IA como dominadora mundial</a:t>
            </a:r>
          </a:p>
          <a:p>
            <a:r>
              <a:rPr lang="es-ES" sz="2800" dirty="0"/>
              <a:t>Utilidad de la IA en el contexto del software</a:t>
            </a:r>
          </a:p>
          <a:p>
            <a:r>
              <a:rPr lang="es-ES" sz="2800" dirty="0"/>
              <a:t>Conocimiento sobre </a:t>
            </a:r>
            <a:r>
              <a:rPr lang="es-ES" sz="2800" dirty="0" err="1"/>
              <a:t>LLMs</a:t>
            </a:r>
            <a:r>
              <a:rPr lang="en-US" sz="2800" dirty="0"/>
              <a:t> y </a:t>
            </a:r>
            <a:r>
              <a:rPr lang="en-US" sz="2800" dirty="0" err="1"/>
              <a:t>uso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el</a:t>
            </a:r>
            <a:r>
              <a:rPr lang="en-US" sz="2800" dirty="0"/>
              <a:t> </a:t>
            </a:r>
            <a:r>
              <a:rPr lang="en-US" sz="2800" dirty="0" err="1"/>
              <a:t>razonamiento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28711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10B8AB-A15E-F198-3F22-F1F455A3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975" y="753999"/>
            <a:ext cx="4791075" cy="48943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3900" b="1" dirty="0">
                <a:solidFill>
                  <a:schemeClr val="tx1"/>
                </a:solidFill>
              </a:rPr>
              <a:t>FIN </a:t>
            </a:r>
            <a:br>
              <a:rPr lang="es-ES" sz="7200" b="1" dirty="0">
                <a:solidFill>
                  <a:schemeClr val="tx1"/>
                </a:solidFill>
              </a:rPr>
            </a:br>
            <a:r>
              <a:rPr lang="es-ES" sz="7200" b="1" dirty="0">
                <a:solidFill>
                  <a:schemeClr val="tx1"/>
                </a:solidFill>
              </a:rPr>
              <a:t>GRACIAS</a:t>
            </a:r>
            <a:endParaRPr lang="en-US" sz="72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66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90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PowerPoint Presentation</vt:lpstr>
      <vt:lpstr>INTRODUCCIÓN</vt:lpstr>
      <vt:lpstr>¿SOLUCIÓN?</vt:lpstr>
      <vt:lpstr>HERRAMIENTAS UTILIZADAS</vt:lpstr>
      <vt:lpstr>EJECUCIÓN</vt:lpstr>
      <vt:lpstr>TIPOS DE ORDENACIÓN</vt:lpstr>
      <vt:lpstr>DAFO</vt:lpstr>
      <vt:lpstr>LÍNEAS DE FUTURO</vt:lpstr>
      <vt:lpstr>LECCIONES APRENDIDAS</vt:lpstr>
      <vt:lpstr>FIN 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Ramos Marcos</dc:creator>
  <cp:lastModifiedBy>Jorge Ramos Marcos</cp:lastModifiedBy>
  <cp:revision>3</cp:revision>
  <dcterms:created xsi:type="dcterms:W3CDTF">2025-01-12T21:49:19Z</dcterms:created>
  <dcterms:modified xsi:type="dcterms:W3CDTF">2025-01-13T02:21:18Z</dcterms:modified>
</cp:coreProperties>
</file>